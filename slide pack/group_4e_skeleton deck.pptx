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822960"/>
            <a:ext cx="2011680" cy="2743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CONSULTING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Georgia"/>
              </a:rPr>
              <a:t>AI for Smart Industry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D6DF"/>
                </a:solidFill>
                <a:latin typeface="Calibri"/>
              </a:rPr>
              <a:t>How AI can reduce unplanned downtime in EV manufacturing at Jaguar Land Rover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634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6DF"/>
                </a:solidFill>
                <a:latin typeface="Calibri"/>
              </a:rPr>
              <a:t>Presented by: [Name 1]  |  [Name 2]  |  [Name 3]  |  Module: WM9QC-15  |  Date: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2103120" cy="25603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Georgia"/>
              </a:rPr>
              <a:t>Today's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53312"/>
            <a:ext cx="822960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502920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502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8E8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389888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Introduction &amp; Client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655064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JLR brief, EV transition, the downtime problem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463040"/>
            <a:ext cx="1143000" cy="274320"/>
          </a:xfrm>
          <a:prstGeom prst="rect">
            <a:avLst/>
          </a:prstGeom>
          <a:solidFill>
            <a:srgbClr val="DC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46304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3A5C"/>
                </a:solidFill>
                <a:latin typeface="Calibri"/>
              </a:rPr>
              <a:t>2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47672"/>
            <a:ext cx="8229600" cy="521207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947672"/>
            <a:ext cx="502920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47672"/>
            <a:ext cx="502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8E8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1984248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Industry &amp; AI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2249424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Industry 4.0/5.0 and Industrial AI landscape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2057400"/>
            <a:ext cx="1143000" cy="274320"/>
          </a:xfrm>
          <a:prstGeom prst="rect">
            <a:avLst/>
          </a:prstGeom>
          <a:solidFill>
            <a:srgbClr val="DC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205740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3A5C"/>
                </a:solidFill>
                <a:latin typeface="Calibri"/>
              </a:rPr>
              <a:t>2 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42032"/>
            <a:ext cx="822960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542032"/>
            <a:ext cx="502920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542032"/>
            <a:ext cx="502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8E8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2578608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AI Applications for JLR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2843784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Control, sensing, supply chain AI, predictive maintenance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2651760"/>
            <a:ext cx="1143000" cy="274320"/>
          </a:xfrm>
          <a:prstGeom prst="rect">
            <a:avLst/>
          </a:prstGeom>
          <a:solidFill>
            <a:srgbClr val="DC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26517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3A5C"/>
                </a:solidFill>
                <a:latin typeface="Calibri"/>
              </a:rPr>
              <a:t>4 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36392"/>
            <a:ext cx="8229600" cy="521207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136392"/>
            <a:ext cx="502920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136392"/>
            <a:ext cx="502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8E8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3172968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Live Demonstrations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3438144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Demo A: Predictive maintenance  |  Demo B: Control system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3246120"/>
            <a:ext cx="1143000" cy="274320"/>
          </a:xfrm>
          <a:prstGeom prst="rect">
            <a:avLst/>
          </a:prstGeom>
          <a:solidFill>
            <a:srgbClr val="DC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32461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3A5C"/>
                </a:solidFill>
                <a:latin typeface="Calibri"/>
              </a:rPr>
              <a:t>4 min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730752"/>
            <a:ext cx="822960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3730752"/>
            <a:ext cx="502920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730752"/>
            <a:ext cx="502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8E8"/>
                </a:solidFill>
                <a:latin typeface="Calibr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" y="3767328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Benefits of AI Integration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" y="4032504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Operational, financial, strategic and sustainability gains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3840480"/>
            <a:ext cx="1143000" cy="274320"/>
          </a:xfrm>
          <a:prstGeom prst="rect">
            <a:avLst/>
          </a:prstGeom>
          <a:solidFill>
            <a:srgbClr val="DC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0" y="384048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3A5C"/>
                </a:solidFill>
                <a:latin typeface="Calibri"/>
              </a:rPr>
              <a:t>1 min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325112"/>
            <a:ext cx="8229600" cy="521207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325112"/>
            <a:ext cx="502920" cy="521207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325112"/>
            <a:ext cx="502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8E8"/>
                </a:solidFill>
                <a:latin typeface="Calibri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" y="4361688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Challenges &amp; Recommendations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" y="4626864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Risks, ethics, do nothing vs short / medium / long-term plans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06640" y="4434840"/>
            <a:ext cx="1143000" cy="274320"/>
          </a:xfrm>
          <a:prstGeom prst="rect">
            <a:avLst/>
          </a:prstGeom>
          <a:solidFill>
            <a:srgbClr val="DC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06640" y="443484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3A5C"/>
                </a:solidFill>
                <a:latin typeface="Calibri"/>
              </a:rPr>
              <a:t>2 min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892040"/>
            <a:ext cx="6858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  <a:latin typeface="Calibri"/>
              </a:rPr>
              <a:t>CONFIDENTIAL  |  AI FOR SMART INDUSTRY  |  JLR CONSULTING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2103120" cy="25603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01 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Georgia"/>
              </a:rPr>
              <a:t>The Client 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40233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64008" cy="32918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087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JLR at a Glance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20240"/>
            <a:ext cx="3657600" cy="2651760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JLR facts:
£500m Halewood investment
750 autonomous robots deployed
EV production from 2025
Reimagine: all-electric by 2030 ]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417320"/>
            <a:ext cx="40233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417320"/>
            <a:ext cx="64008" cy="32918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5087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The Problem We Solve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920240"/>
            <a:ext cx="3657600" cy="2651760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The downtime problem:
New EV components = new failures
Higher automation = higher dependency
Unexpected stops = lost revenue
ICE-era processes no longer fit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92040"/>
            <a:ext cx="6858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  <a:latin typeface="Calibri"/>
              </a:rPr>
              <a:t>CONFIDENTIAL  |  AI FOR SMART INDUSTRY  |  JLR CONSULTING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2103120" cy="25603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02  INDUSTRY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Georgia"/>
              </a:rPr>
              <a:t>Where Automotive Manufacturing Stands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554480" cy="1554480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Industry
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2331720"/>
            <a:ext cx="1408176" cy="960119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Add
content ]</a:t>
            </a:r>
          </a:p>
        </p:txBody>
      </p:sp>
      <p:sp>
        <p:nvSpPr>
          <p:cNvPr id="9" name="Rectangle 8"/>
          <p:cNvSpPr/>
          <p:nvPr/>
        </p:nvSpPr>
        <p:spPr>
          <a:xfrm>
            <a:off x="2176272" y="1828800"/>
            <a:ext cx="1554480" cy="1554480"/>
          </a:xfrm>
          <a:prstGeom prst="rect">
            <a:avLst/>
          </a:prstGeom>
          <a:solidFill>
            <a:srgbClr val="66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1874519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Industry
2.0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9424" y="2331720"/>
            <a:ext cx="1408176" cy="960119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Add
content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95344" y="1828800"/>
            <a:ext cx="1554480" cy="1554480"/>
          </a:xfrm>
          <a:prstGeom prst="rect">
            <a:avLst/>
          </a:prstGeom>
          <a:solidFill>
            <a:srgbClr val="44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95344" y="1874519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Industry
3.0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8496" y="2331720"/>
            <a:ext cx="1408176" cy="960119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Add
content 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14416" y="1280160"/>
            <a:ext cx="1554480" cy="2103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14416" y="13258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Industry
4.0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87568" y="1783080"/>
            <a:ext cx="1408176" cy="1508760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Add
content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14416" y="3383279"/>
            <a:ext cx="1554480" cy="21945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4416" y="3383279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CURRENT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33488" y="1280160"/>
            <a:ext cx="1554480" cy="21031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33488" y="13258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Industry
5.0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1783080"/>
            <a:ext cx="1408176" cy="1508760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Add
content 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33488" y="3383279"/>
            <a:ext cx="1554480" cy="21945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33488" y="3383279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← WE ARE HERE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49039"/>
            <a:ext cx="8229600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785615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A8E8"/>
                </a:solidFill>
                <a:latin typeface="Calibri"/>
              </a:rPr>
              <a:t>KEY IMPLICATION FOR JLR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050791"/>
            <a:ext cx="7772400" cy="640080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Write your key implication — why Industry 4.0/5.0 makes AI adoption essential for JLR's EV transition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92040"/>
            <a:ext cx="6858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  <a:latin typeface="Calibri"/>
              </a:rPr>
              <a:t>CONFIDENTIAL  |  AI FOR SMART INDUSTRY  |  JLR CONSULTING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2103120" cy="25603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02  INDUSTRY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Georgia"/>
              </a:rPr>
              <a:t>What is Industrial AI?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64008" cy="15087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087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Machine Learning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92808"/>
            <a:ext cx="3657600" cy="914400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Explain in 2-3 sentences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41732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417320"/>
            <a:ext cx="64008" cy="1508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4607" y="15087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Computer Vision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4607" y="1892808"/>
            <a:ext cx="3657600" cy="914400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Explain in 2-3 sentences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6324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64008" cy="150876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154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Intelligent Control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538728"/>
            <a:ext cx="3657600" cy="914400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Explain in 2-3 sentences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306324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0" y="3063240"/>
            <a:ext cx="64008" cy="150876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4607" y="3154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Predictive Analytics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64607" y="3538728"/>
            <a:ext cx="3657600" cy="914400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Explain in 2-3 sentences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solidFill>
            <a:srgbClr val="DC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681728"/>
            <a:ext cx="8046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B3A5C"/>
                </a:solidFill>
                <a:latin typeface="Calibri"/>
              </a:rPr>
              <a:t>[ Link all four back to reducing downtime at JLR — one sentence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92040"/>
            <a:ext cx="6858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  <a:latin typeface="Calibri"/>
              </a:rPr>
              <a:t>CONFIDENTIAL  |  AI FOR SMART INDUSTRY  |  JLR CONSULTING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2103120" cy="25603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03  AI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1B2A"/>
                </a:solidFill>
                <a:latin typeface="Georgia"/>
              </a:rPr>
              <a:t>AI Levers for JLR's Smart Factory</a:t>
            </a:r>
          </a:p>
        </p:txBody>
      </p:sp>
      <p:sp>
        <p:nvSpPr>
          <p:cNvPr id="6" name="Oval 5"/>
          <p:cNvSpPr/>
          <p:nvPr/>
        </p:nvSpPr>
        <p:spPr>
          <a:xfrm>
            <a:off x="3520440" y="1389888"/>
            <a:ext cx="2103120" cy="91440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1389888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A8E8"/>
                </a:solidFill>
                <a:latin typeface="Calibri"/>
              </a:rPr>
              <a:t>REDUCE
DOWNTIME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97280"/>
            <a:ext cx="251460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097280"/>
            <a:ext cx="64008" cy="129844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61288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libri"/>
              </a:rPr>
              <a:t>AI Robotics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481328"/>
            <a:ext cx="2240280" cy="804672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[ 2 sentences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097280"/>
            <a:ext cx="251460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097280"/>
            <a:ext cx="64008" cy="129844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161288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libri"/>
              </a:rPr>
              <a:t>Intelligent Control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481328"/>
            <a:ext cx="2240280" cy="804672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[ 2 sentences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514600"/>
            <a:ext cx="251460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2514600"/>
            <a:ext cx="64008" cy="129844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578608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libri"/>
              </a:rPr>
              <a:t>Multi-Sensor Fusion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898648"/>
            <a:ext cx="2240280" cy="804672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[ 2 sentences 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514600"/>
            <a:ext cx="251460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2514600"/>
            <a:ext cx="64008" cy="129844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578608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libri"/>
              </a:rPr>
              <a:t>Predictive Maintenance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2898648"/>
            <a:ext cx="2240280" cy="804672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[ 2 sentences 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13632"/>
            <a:ext cx="8229600" cy="9875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913632"/>
            <a:ext cx="64008" cy="98755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3931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7B39"/>
                </a:solidFill>
                <a:latin typeface="Calibri"/>
              </a:rPr>
              <a:t>SUPPLY CHAIN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178808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6DF"/>
                </a:solidFill>
                <a:latin typeface="Calibri"/>
              </a:rPr>
              <a:t>A second root cause of downtime: supply disruption.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6040" y="3977639"/>
            <a:ext cx="5943600" cy="80467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3995928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7B39"/>
                </a:solidFill>
                <a:latin typeface="Calibri"/>
              </a:rPr>
              <a:t>DESIGN PROPOSAL  —  LSTM Supply Risk Monitor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224528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6DF"/>
                </a:solidFill>
                <a:latin typeface="Calibri"/>
              </a:rPr>
              <a:t>An LSTM model monitors real-time commodity price feeds (lithium, nickel, semiconductors). When anomalous trends are detected, procurement teams are alerted — preventing supply-driven line stops before they occur.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892040"/>
            <a:ext cx="6858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  <a:latin typeface="Calibri"/>
              </a:rPr>
              <a:t>CONFIDENTIAL  |  AI FOR SMART INDUSTRY  |  JLR CONSULTING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2103120" cy="25603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03  AI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Georgia"/>
              </a:rPr>
              <a:t>AI in Control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64008" cy="3200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087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The 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20240"/>
            <a:ext cx="3657600" cy="2514600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Traditional PID control:
Fixed parameters
Cannot adapt to EV line variability
Instability leads to stress and failure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417320"/>
            <a:ext cx="40233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417320"/>
            <a:ext cx="64008" cy="32004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5087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The AI Solution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920240"/>
            <a:ext cx="3657600" cy="2514600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Adaptive AI control:
Self-tunes in real time
Prevents instability before it occurs
Reduces equipment stress and wear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690872"/>
            <a:ext cx="822960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709160"/>
            <a:ext cx="7955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9D6DF"/>
                </a:solidFill>
                <a:latin typeface="Calibri"/>
              </a:rPr>
              <a:t>Demo B: Simulink comparison — unstable vs stable system response and impact on component wear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92040"/>
            <a:ext cx="6858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  <a:latin typeface="Calibri"/>
              </a:rPr>
              <a:t>CONFIDENTIAL  |  AI FOR SMART INDUSTRY  |  JLR CONSULTING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2103120" cy="25603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03  AI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Georgia"/>
              </a:rPr>
              <a:t>AI in Predictive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651760" cy="38404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CURRENT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01368"/>
            <a:ext cx="2651760" cy="2788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865376"/>
            <a:ext cx="24323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2A"/>
                </a:solidFill>
                <a:latin typeface="Georgia"/>
              </a:rPr>
              <a:t>Reactive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286000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99AA"/>
                </a:solidFill>
                <a:latin typeface="Calibri"/>
              </a:rPr>
              <a:t>Fix after failure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578608"/>
            <a:ext cx="2432304" cy="1874519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Describe reactive
maintenance in 3-4 lines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417320"/>
            <a:ext cx="2651760" cy="38404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4173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COMMON TODAY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801368"/>
            <a:ext cx="2651760" cy="2788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1865376"/>
            <a:ext cx="24323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2A"/>
                </a:solidFill>
                <a:latin typeface="Georgia"/>
              </a:rPr>
              <a:t>Preventive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286000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99AA"/>
                </a:solidFill>
                <a:latin typeface="Calibri"/>
              </a:rPr>
              <a:t>Fixed schedule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2578608"/>
            <a:ext cx="2432304" cy="1874519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Describe preventive
maintenance in 3-4 lines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417320"/>
            <a:ext cx="2651760" cy="38404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4173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OUR PROPOSAL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801368"/>
            <a:ext cx="2651760" cy="2788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1865376"/>
            <a:ext cx="24323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2A"/>
                </a:solidFill>
                <a:latin typeface="Georgia"/>
              </a:rPr>
              <a:t>Predictive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2286000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99AA"/>
                </a:solidFill>
                <a:latin typeface="Calibri"/>
              </a:rPr>
              <a:t>AI-driven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578608"/>
            <a:ext cx="2432304" cy="1874519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Describe predictive
maintenance in 3-4 lines 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681728"/>
            <a:ext cx="7955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9D6DF"/>
                </a:solidFill>
                <a:latin typeface="Calibri"/>
              </a:rPr>
              <a:t>[ Insert industry stat on predictive maintenance ROI — cite McKinsey, Deloitte, or peer-reviewed source 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92040"/>
            <a:ext cx="6858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  <a:latin typeface="Calibri"/>
              </a:rPr>
              <a:t>CONFIDENTIAL  |  AI FOR SMART INDUSTRY  |  JLR CONSULTING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1B3A5C"/>
                </a:solidFill>
                <a:latin typeface="Georgia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011680" cy="25603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DEMONSTRATION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Demo A: Predictive Maintenance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9D6DF"/>
                </a:solidFill>
                <a:latin typeface="Calibri"/>
              </a:rPr>
              <a:t>[ One line: what Demo A shows and why it matters for JLR 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4114800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85876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6DF"/>
                </a:solidFill>
                <a:latin typeface="Calibri"/>
              </a:rPr>
              <a:t>Dataset: KAIST Ball Bearing Run-to-Failure (2024)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3840480"/>
            <a:ext cx="4114800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385876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6DF"/>
                </a:solidFill>
                <a:latin typeface="Calibri"/>
              </a:rPr>
              <a:t>Sensors: Vibration X, Vibration Y, Bearing Temp, Ambient Temp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2103120" cy="25603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04  DEMONSTRATION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Georgia"/>
              </a:rPr>
              <a:t>Demo A: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3429000" cy="23317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429000" cy="2331720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Single-Sensor (Vibration only)
[ INSERT RUL prediction chart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8444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Vibration only  -&gt;  [ X ]% 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234440"/>
            <a:ext cx="3429000" cy="23317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0" y="1234440"/>
            <a:ext cx="3429000" cy="2331720"/>
          </a:xfrm>
          <a:prstGeom prst="rect">
            <a:avLst/>
          </a:prstGeom>
          <a:solidFill>
            <a:srgbClr val="E8EEF4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0" y="1234440"/>
            <a:ext cx="3429000" cy="2331720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Multi-Sensor Fusion (Vibration + Temp)
[ INSERT fused RUL prediction chart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58444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A8E8"/>
                </a:solidFill>
                <a:latin typeface="Calibri"/>
              </a:rPr>
              <a:t>Multi-sensor fusion  -&gt;  [ X+Y ]% 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1234440"/>
            <a:ext cx="1325880" cy="26243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280160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A8E8"/>
                </a:solidFill>
                <a:latin typeface="Calibri"/>
              </a:rPr>
              <a:t>WHY?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517904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9D6DF"/>
                </a:solidFill>
                <a:latin typeface="Calibri"/>
              </a:rPr>
              <a:t>Feature
Importance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62672" y="1956816"/>
            <a:ext cx="822960" cy="16459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62672" y="1956816"/>
            <a:ext cx="674827" cy="16459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21305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C9D6DF"/>
                </a:solidFill>
                <a:latin typeface="Calibri"/>
              </a:rPr>
              <a:t>Bearing Temp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62672" y="2414016"/>
            <a:ext cx="822960" cy="16459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62672" y="2414016"/>
            <a:ext cx="502005" cy="1645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25877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C9D6DF"/>
                </a:solidFill>
                <a:latin typeface="Calibri"/>
              </a:rPr>
              <a:t>Vib 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62672" y="2871216"/>
            <a:ext cx="822960" cy="16459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62672" y="2871216"/>
            <a:ext cx="444398" cy="164592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30449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C9D6DF"/>
                </a:solidFill>
                <a:latin typeface="Calibri"/>
              </a:rPr>
              <a:t>Vib 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62672" y="3328416"/>
            <a:ext cx="822960" cy="16459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62672" y="3328416"/>
            <a:ext cx="230428" cy="164592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35021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C9D6DF"/>
                </a:solidFill>
                <a:latin typeface="Calibri"/>
              </a:rPr>
              <a:t>Amb Temp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73075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1">
                <a:solidFill>
                  <a:srgbClr val="8899AA"/>
                </a:solidFill>
                <a:latin typeface="Calibri"/>
              </a:rPr>
              <a:t>[ Edit bars to
match your results 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931920"/>
            <a:ext cx="822960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959352"/>
            <a:ext cx="7955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D6DF"/>
                </a:solidFill>
                <a:latin typeface="Calibri"/>
              </a:rPr>
              <a:t>BUSINESS IMPACT   -&gt;   [ X hrs earlier warning ]   |   [ £Y saved per stop ]   |   [ Z% downtime reduction 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892040"/>
            <a:ext cx="6858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  <a:latin typeface="Calibri"/>
              </a:rPr>
              <a:t>CONFIDENTIAL  |  AI FOR SMART INDUSTRY  |  JLR CONSULTING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2103120" cy="25603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04  DEMONSTRATION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Georgia"/>
              </a:rPr>
              <a:t>Demo B: Intelligent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402336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64008" cy="2514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087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Unstable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20240"/>
            <a:ext cx="3657600" cy="1691640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INSERT Simulink
oscillating response screenshot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3931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3946"/>
                </a:solidFill>
                <a:latin typeface="Calibri"/>
              </a:rPr>
              <a:t>Result: [ excess vibration -&gt; bearing wear -&gt; failure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417320"/>
            <a:ext cx="402336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1417320"/>
            <a:ext cx="64008" cy="25146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5087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AI-Controlled 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920240"/>
            <a:ext cx="3657600" cy="1691640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INSERT Simulink
stable response screenshot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63931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3"/>
                </a:solidFill>
                <a:latin typeface="Calibri"/>
              </a:rPr>
              <a:t>Result: [ stable process -&gt; less wear -&gt; less downtime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41648"/>
            <a:ext cx="8229600" cy="50292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069080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3A5C"/>
                </a:solidFill>
                <a:latin typeface="Calibri"/>
              </a:rPr>
              <a:t>[ Connecting sentence: Control prevents instability + Demo A detects failure early = minimised downtime at JLR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92040"/>
            <a:ext cx="6858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  <a:latin typeface="Calibri"/>
              </a:rPr>
              <a:t>CONFIDENTIAL  |  AI FOR SMART INDUSTRY  |  JLR CONSULTING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2103120" cy="25603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05 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Georgia"/>
              </a:rPr>
              <a:t>Benefits of AI Integration for JLR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64008" cy="15087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Operational Benefits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56232"/>
            <a:ext cx="3657600" cy="987552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Reduced downtime
Higher production efficiency
Fewer emergency repairs
Add stat: e.g. X% uptime increase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41732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417320"/>
            <a:ext cx="64008" cy="150876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4607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Financial Benefits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4607" y="1856232"/>
            <a:ext cx="3657600" cy="987552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Lower maintenance costs
Reduced scrap and rework
Better capacity utilisation
Add £ figure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6324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64008" cy="1508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154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Strategic Benefits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502152"/>
            <a:ext cx="3657600" cy="987552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Competitive vs BYD / Tesla
Faster EV ramp-up at Halewood
Supports Reimagine 2030 goals
Future-proofs the factory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306324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0" y="3063240"/>
            <a:ext cx="64008" cy="150876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4607" y="3154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Sustainability Benefits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64607" y="3502152"/>
            <a:ext cx="3657600" cy="987552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Less energy waste from failures
Longer asset lifetimes
Supports JLR net-zero 2039 target
Reduces CO2e from rework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92040"/>
            <a:ext cx="6858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  <a:latin typeface="Calibri"/>
              </a:rPr>
              <a:t>CONFIDENTIAL  |  AI FOR SMART INDUSTRY  |  JLR CONSULTING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2103120" cy="25603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06  CHALLENGES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1B2A"/>
                </a:solidFill>
                <a:latin typeface="Georgia"/>
              </a:rPr>
              <a:t>Risks, Challenges &amp; Ethical Considerations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4023360" cy="10698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4008" cy="106984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35608"/>
            <a:ext cx="777240" cy="20116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3560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TECHNICAL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4173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Data Quality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691640"/>
            <a:ext cx="3703320" cy="338328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Risk — 1 sentence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066543"/>
            <a:ext cx="3703320" cy="274320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Mitigation — 1 sentence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32888"/>
            <a:ext cx="4023360" cy="10698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532888"/>
            <a:ext cx="64008" cy="106984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596896"/>
            <a:ext cx="777240" cy="20116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96896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ETHICAL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57860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Workforce Impact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852928"/>
            <a:ext cx="3703320" cy="338328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Risk — 1 sentence 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227832"/>
            <a:ext cx="3703320" cy="274320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Mitigation — 1 sentence 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94176"/>
            <a:ext cx="4023360" cy="10698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694176"/>
            <a:ext cx="64008" cy="106984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758184"/>
            <a:ext cx="777240" cy="20116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58184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TECHNICAL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73989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Model Drift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014215"/>
            <a:ext cx="3703320" cy="338328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Risk — 1 sentence 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89120"/>
            <a:ext cx="3703320" cy="274320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Mitigation — 1 sentence 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371600"/>
            <a:ext cx="4023360" cy="10698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63440" y="1371600"/>
            <a:ext cx="64008" cy="106984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6320" y="1435608"/>
            <a:ext cx="777240" cy="20116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143560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ETHICAL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14173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Data Privacy &amp; Liability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1691640"/>
            <a:ext cx="3703320" cy="338328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Risk — 1 sentence 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2066543"/>
            <a:ext cx="3703320" cy="274320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Mitigation — 1 sentence 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2532888"/>
            <a:ext cx="4023360" cy="10698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63440" y="2532888"/>
            <a:ext cx="64008" cy="106984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846320" y="2596896"/>
            <a:ext cx="777240" cy="20116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0" y="2596896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BUSINESS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0" y="257860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Integration Cost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2852928"/>
            <a:ext cx="3703320" cy="338328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Risk — 1 sentence 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3227832"/>
            <a:ext cx="3703320" cy="274320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Mitigation — 1 sentence 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63440" y="3694176"/>
            <a:ext cx="4023360" cy="10698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663440" y="3694176"/>
            <a:ext cx="64008" cy="106984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846320" y="3758184"/>
            <a:ext cx="777240" cy="20116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20" y="3758184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BUSINESS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15000" y="373989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Over-reliance on AI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4014215"/>
            <a:ext cx="3703320" cy="338328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Risk — 1 sentence 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46320" y="4389120"/>
            <a:ext cx="3703320" cy="274320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Mitigation — 1 sentence 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892040"/>
            <a:ext cx="6858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  <a:latin typeface="Calibri"/>
              </a:rPr>
              <a:t>CONFIDENTIAL  |  AI FOR SMART INDUSTRY  |  JLR CONSULTING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1B3A5C"/>
                </a:solidFill>
                <a:latin typeface="Georgia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011680" cy="25603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Our Plan for JLR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D6DF"/>
                </a:solidFill>
                <a:latin typeface="Calibri"/>
              </a:rPr>
              <a:t>Four options — and why acting now is the only sensible choice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2103120" cy="25603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06 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B2A"/>
                </a:solidFill>
                <a:latin typeface="Georgia"/>
              </a:rPr>
              <a:t>Our Recommendation for JLR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" y="1280160"/>
            <a:ext cx="2029968" cy="34747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1280160"/>
            <a:ext cx="2029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x  DO NOTHING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" y="1627632"/>
            <a:ext cx="2029968" cy="2852928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673352"/>
            <a:ext cx="18470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1">
                <a:solidFill>
                  <a:srgbClr val="E63946"/>
                </a:solidFill>
                <a:latin typeface="Calibri"/>
              </a:rPr>
              <a:t>Ongoing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920240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3946"/>
                </a:solidFill>
                <a:latin typeface="Calibri"/>
              </a:rPr>
              <a:t>Continue as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" y="2450592"/>
            <a:ext cx="1847088" cy="1901952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Quantify cost:
- Downtime hrs/year
- £ lost per line stop
- Competitive risk vs
  Tesla, BYD
- No improvement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" y="4407408"/>
            <a:ext cx="1847088" cy="21945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4407408"/>
            <a:ext cx="18470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COST OF INACTION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1280160"/>
            <a:ext cx="2029968" cy="347472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3160" y="1280160"/>
            <a:ext cx="2029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  SHORT-TERM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1627632"/>
            <a:ext cx="2029968" cy="2852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600" y="1673352"/>
            <a:ext cx="18470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1">
                <a:solidFill>
                  <a:srgbClr val="2DC653"/>
                </a:solidFill>
                <a:latin typeface="Calibri"/>
              </a:rPr>
              <a:t>0 - 6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1920240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libri"/>
              </a:rPr>
              <a:t>Predictive Maintenance Pilot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4600" y="2450592"/>
            <a:ext cx="1847088" cy="1901952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Describe:
- Sensors on CNC line
- KAIST multi-sensor model
- Target: 30% downtime
  reduction
- Prove ROI first 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4407408"/>
            <a:ext cx="1847088" cy="219456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407408"/>
            <a:ext cx="18470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  OUR RECOMMENDATION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44568" y="1280160"/>
            <a:ext cx="2029968" cy="34747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1280160"/>
            <a:ext cx="2029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  MEDIUM-TERM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44568" y="1627632"/>
            <a:ext cx="2029968" cy="2852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8" y="1673352"/>
            <a:ext cx="18470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1">
                <a:solidFill>
                  <a:srgbClr val="00A8E8"/>
                </a:solidFill>
                <a:latin typeface="Calibri"/>
              </a:rPr>
              <a:t>6 - 18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1920240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libri"/>
              </a:rPr>
              <a:t>Intelligent Control Rollout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36008" y="2450592"/>
            <a:ext cx="1847088" cy="1901952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Describe:
- AI control across
  EV assembly
- Integrate with
  maintenance
- Expand sensors 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65976" y="1280160"/>
            <a:ext cx="2029968" cy="34747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65976" y="1280160"/>
            <a:ext cx="2029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  LONG-TERM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65976" y="1627632"/>
            <a:ext cx="2029968" cy="2852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57416" y="1673352"/>
            <a:ext cx="18470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1">
                <a:solidFill>
                  <a:srgbClr val="1B3A5C"/>
                </a:solidFill>
                <a:latin typeface="Calibri"/>
              </a:rPr>
              <a:t>18+ months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7416" y="1920240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libri"/>
              </a:rPr>
              <a:t>Plant-Wide AI Integration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57416" y="2450592"/>
            <a:ext cx="1847088" cy="1901952"/>
          </a:xfrm>
          <a:prstGeom prst="rect">
            <a:avLst/>
          </a:prstGeom>
          <a:solidFill>
            <a:srgbClr val="EEF2F7"/>
          </a:solidFill>
          <a:ln w="9525">
            <a:solidFill>
              <a:srgbClr val="AABB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9AAABB"/>
                </a:solidFill>
                <a:latin typeface="Calibri"/>
              </a:rPr>
              <a:t>[ Describe:
- Full smart factory
- Supply chain AI live
- Digital twin
- AI robotics
  fully adaptive 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1752" y="4690872"/>
            <a:ext cx="8540496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4718304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A8E8"/>
                </a:solidFill>
                <a:latin typeface="Calibri"/>
              </a:rPr>
              <a:t>ROADMAP (IF PLAN 1 ADOPTED)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4718304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9D6DF"/>
                </a:solidFill>
                <a:latin typeface="Calibri"/>
              </a:rPr>
              <a:t>Phase 1: [ Q1-Q2: sensors &amp; data pipeline 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471830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9D6DF"/>
                </a:solidFill>
                <a:latin typeface="Calibri"/>
              </a:rPr>
              <a:t>Phase 2: [ Q3-Q4: model &amp; pilot 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471830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9D6DF"/>
                </a:solidFill>
                <a:latin typeface="Calibri"/>
              </a:rPr>
              <a:t>Phase 3: [ Scale 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892040"/>
            <a:ext cx="6858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  <a:latin typeface="Calibri"/>
              </a:rPr>
              <a:t>CONFIDENTIAL  |  AI FOR SMART INDUSTRY  |  JLR CONSULTING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